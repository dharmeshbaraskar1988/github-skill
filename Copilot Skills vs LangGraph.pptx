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platform choice for the API catalogue. We run it as GitHub Copilot custom agents plus skills because Copilot is already available and approved, the agent works where the repository already is, and deterministic scripts do the heavy reading, which keeps token use around 0.1 to 0.2 million per application against 5 to 10 million when an LLM reads the code and the ACORD model itself. Human review lasts days and fits files in git better than paused workflows. Rollout is one folder or an organisation plugin, with pull-request governance and no servers. LangGraph is the better fit only if we need unattended central runs at scale, an API service, or enforced rules in IDE chat, and it could reuse the same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4"/>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pitchFamily="34" charset="0"/>
                <a:ea typeface="IBM Plex Sans" pitchFamily="34" charset="-122"/>
                <a:cs typeface="IBM Plex Sans" pitchFamily="34" charset="-120"/>
              </a:rPr>
              <a:t>Why GitHub Copilot skills, not a LangGraph service</a:t>
            </a:r>
            <a:endParaRPr lang="en-US" sz="3000" dirty="0"/>
          </a:p>
        </p:txBody>
      </p:sp>
      <p:sp>
        <p:nvSpPr>
          <p:cNvPr id="3" name="Shape 1"/>
          <p:cNvSpPr/>
          <p:nvPr/>
        </p:nvSpPr>
        <p:spPr>
          <a:xfrm>
            <a:off x="812800" y="1327150"/>
            <a:ext cx="2519680" cy="881380"/>
          </a:xfrm>
          <a:prstGeom prst="roundRect">
            <a:avLst>
              <a:gd name="adj" fmla="val 10086"/>
            </a:avLst>
          </a:prstGeom>
          <a:solidFill>
            <a:srgbClr val="14213D"/>
          </a:solidFill>
          <a:ln/>
        </p:spPr>
      </p:sp>
      <p:sp>
        <p:nvSpPr>
          <p:cNvPr id="4" name="Text 2"/>
          <p:cNvSpPr/>
          <p:nvPr/>
        </p:nvSpPr>
        <p:spPr>
          <a:xfrm>
            <a:off x="990600" y="1466850"/>
            <a:ext cx="22290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6F7F4"/>
                </a:solidFill>
                <a:latin typeface="IBM Plex Sans" pitchFamily="34" charset="0"/>
                <a:ea typeface="IBM Plex Sans" pitchFamily="34" charset="-122"/>
                <a:cs typeface="IBM Plex Sans" pitchFamily="34" charset="-120"/>
              </a:rPr>
              <a:t>30–50×</a:t>
            </a:r>
            <a:endParaRPr lang="en-US" sz="2800" dirty="0"/>
          </a:p>
        </p:txBody>
      </p:sp>
      <p:sp>
        <p:nvSpPr>
          <p:cNvPr id="5" name="Text 3"/>
          <p:cNvSpPr/>
          <p:nvPr/>
        </p:nvSpPr>
        <p:spPr>
          <a:xfrm>
            <a:off x="990600" y="1860550"/>
            <a:ext cx="222900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6E8"/>
                </a:solidFill>
                <a:latin typeface="IBM Plex Sans" pitchFamily="34" charset="0"/>
                <a:ea typeface="IBM Plex Sans" pitchFamily="34" charset="-122"/>
                <a:cs typeface="IBM Plex Sans" pitchFamily="34" charset="-120"/>
              </a:rPr>
              <a:t>fewer tokens per application</a:t>
            </a:r>
            <a:endParaRPr lang="en-US" sz="1200" dirty="0"/>
          </a:p>
        </p:txBody>
      </p:sp>
      <p:sp>
        <p:nvSpPr>
          <p:cNvPr id="6" name="Shape 4"/>
          <p:cNvSpPr/>
          <p:nvPr/>
        </p:nvSpPr>
        <p:spPr>
          <a:xfrm>
            <a:off x="3488055" y="1330325"/>
            <a:ext cx="2523490" cy="875030"/>
          </a:xfrm>
          <a:prstGeom prst="roundRect">
            <a:avLst>
              <a:gd name="adj" fmla="val 9797"/>
            </a:avLst>
          </a:prstGeom>
          <a:solidFill>
            <a:srgbClr val="FFFFFF"/>
          </a:solidFill>
          <a:ln w="6350">
            <a:solidFill>
              <a:srgbClr val="DDE2E8"/>
            </a:solidFill>
            <a:prstDash val="solid"/>
          </a:ln>
        </p:spPr>
      </p:sp>
      <p:sp>
        <p:nvSpPr>
          <p:cNvPr id="7" name="Text 5"/>
          <p:cNvSpPr/>
          <p:nvPr/>
        </p:nvSpPr>
        <p:spPr>
          <a:xfrm>
            <a:off x="3667760" y="1471930"/>
            <a:ext cx="22290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D4F91"/>
                </a:solidFill>
                <a:latin typeface="IBM Plex Sans" pitchFamily="34" charset="0"/>
                <a:ea typeface="IBM Plex Sans" pitchFamily="34" charset="-122"/>
                <a:cs typeface="IBM Plex Sans" pitchFamily="34" charset="-120"/>
              </a:rPr>
              <a:t>0</a:t>
            </a:r>
            <a:endParaRPr lang="en-US" sz="2800" dirty="0"/>
          </a:p>
        </p:txBody>
      </p:sp>
      <p:sp>
        <p:nvSpPr>
          <p:cNvPr id="8" name="Text 6"/>
          <p:cNvSpPr/>
          <p:nvPr/>
        </p:nvSpPr>
        <p:spPr>
          <a:xfrm>
            <a:off x="3667760" y="1865630"/>
            <a:ext cx="222900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9"/>
                </a:solidFill>
                <a:latin typeface="IBM Plex Sans" pitchFamily="34" charset="0"/>
                <a:ea typeface="IBM Plex Sans" pitchFamily="34" charset="-122"/>
                <a:cs typeface="IBM Plex Sans" pitchFamily="34" charset="-120"/>
              </a:rPr>
              <a:t>servers or new AI endpoints</a:t>
            </a:r>
            <a:endParaRPr lang="en-US" sz="1200" dirty="0"/>
          </a:p>
        </p:txBody>
      </p:sp>
      <p:sp>
        <p:nvSpPr>
          <p:cNvPr id="9" name="Shape 7"/>
          <p:cNvSpPr/>
          <p:nvPr/>
        </p:nvSpPr>
        <p:spPr>
          <a:xfrm>
            <a:off x="6170295" y="1330325"/>
            <a:ext cx="2523490" cy="875030"/>
          </a:xfrm>
          <a:prstGeom prst="roundRect">
            <a:avLst>
              <a:gd name="adj" fmla="val 9797"/>
            </a:avLst>
          </a:prstGeom>
          <a:solidFill>
            <a:srgbClr val="FFFFFF"/>
          </a:solidFill>
          <a:ln w="6350">
            <a:solidFill>
              <a:srgbClr val="DDE2E8"/>
            </a:solidFill>
            <a:prstDash val="solid"/>
          </a:ln>
        </p:spPr>
      </p:sp>
      <p:sp>
        <p:nvSpPr>
          <p:cNvPr id="10" name="Text 8"/>
          <p:cNvSpPr/>
          <p:nvPr/>
        </p:nvSpPr>
        <p:spPr>
          <a:xfrm>
            <a:off x="6350000" y="1471930"/>
            <a:ext cx="22290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D4F91"/>
                </a:solidFill>
                <a:latin typeface="IBM Plex Sans" pitchFamily="34" charset="0"/>
                <a:ea typeface="IBM Plex Sans" pitchFamily="34" charset="-122"/>
                <a:cs typeface="IBM Plex Sans" pitchFamily="34" charset="-120"/>
              </a:rPr>
              <a:t>1 folder</a:t>
            </a:r>
            <a:endParaRPr lang="en-US" sz="2800" dirty="0"/>
          </a:p>
        </p:txBody>
      </p:sp>
      <p:sp>
        <p:nvSpPr>
          <p:cNvPr id="11" name="Text 9"/>
          <p:cNvSpPr/>
          <p:nvPr/>
        </p:nvSpPr>
        <p:spPr>
          <a:xfrm>
            <a:off x="6350000" y="1865630"/>
            <a:ext cx="222900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9"/>
                </a:solidFill>
                <a:latin typeface="IBM Plex Sans" pitchFamily="34" charset="0"/>
                <a:ea typeface="IBM Plex Sans" pitchFamily="34" charset="-122"/>
                <a:cs typeface="IBM Plex Sans" pitchFamily="34" charset="-120"/>
              </a:rPr>
              <a:t>drops into every repository</a:t>
            </a:r>
            <a:endParaRPr lang="en-US" sz="1200" dirty="0"/>
          </a:p>
        </p:txBody>
      </p:sp>
      <p:sp>
        <p:nvSpPr>
          <p:cNvPr id="12" name="Shape 10"/>
          <p:cNvSpPr/>
          <p:nvPr/>
        </p:nvSpPr>
        <p:spPr>
          <a:xfrm>
            <a:off x="8852535" y="1330325"/>
            <a:ext cx="2523490" cy="875030"/>
          </a:xfrm>
          <a:prstGeom prst="roundRect">
            <a:avLst>
              <a:gd name="adj" fmla="val 9797"/>
            </a:avLst>
          </a:prstGeom>
          <a:solidFill>
            <a:srgbClr val="FFFFFF"/>
          </a:solidFill>
          <a:ln w="6350">
            <a:solidFill>
              <a:srgbClr val="DDE2E8"/>
            </a:solidFill>
            <a:prstDash val="solid"/>
          </a:ln>
        </p:spPr>
      </p:sp>
      <p:sp>
        <p:nvSpPr>
          <p:cNvPr id="13" name="Text 11"/>
          <p:cNvSpPr/>
          <p:nvPr/>
        </p:nvSpPr>
        <p:spPr>
          <a:xfrm>
            <a:off x="9032240" y="1471930"/>
            <a:ext cx="22290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D4F91"/>
                </a:solidFill>
                <a:latin typeface="IBM Plex Sans" pitchFamily="34" charset="0"/>
                <a:ea typeface="IBM Plex Sans" pitchFamily="34" charset="-122"/>
                <a:cs typeface="IBM Plex Sans" pitchFamily="34" charset="-120"/>
              </a:rPr>
              <a:t>8 stages</a:t>
            </a:r>
            <a:endParaRPr lang="en-US" sz="2800" dirty="0"/>
          </a:p>
        </p:txBody>
      </p:sp>
      <p:sp>
        <p:nvSpPr>
          <p:cNvPr id="14" name="Text 12"/>
          <p:cNvSpPr/>
          <p:nvPr/>
        </p:nvSpPr>
        <p:spPr>
          <a:xfrm>
            <a:off x="9032240" y="1865630"/>
            <a:ext cx="222900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A59"/>
                </a:solidFill>
                <a:latin typeface="IBM Plex Sans" pitchFamily="34" charset="0"/>
                <a:ea typeface="IBM Plex Sans" pitchFamily="34" charset="-122"/>
                <a:cs typeface="IBM Plex Sans" pitchFamily="34" charset="-120"/>
              </a:rPr>
              <a:t>validated, one human gate</a:t>
            </a:r>
            <a:endParaRPr lang="en-US" sz="1200" dirty="0"/>
          </a:p>
        </p:txBody>
      </p:sp>
      <p:sp>
        <p:nvSpPr>
          <p:cNvPr id="15" name="Shape 13"/>
          <p:cNvSpPr/>
          <p:nvPr/>
        </p:nvSpPr>
        <p:spPr>
          <a:xfrm>
            <a:off x="812800" y="2386330"/>
            <a:ext cx="10566400" cy="2656840"/>
          </a:xfrm>
          <a:prstGeom prst="roundRect">
            <a:avLst>
              <a:gd name="adj" fmla="val 3346"/>
            </a:avLst>
          </a:prstGeom>
          <a:solidFill>
            <a:srgbClr val="FFFFFF"/>
          </a:solidFill>
          <a:ln/>
        </p:spPr>
      </p:sp>
      <p:sp>
        <p:nvSpPr>
          <p:cNvPr id="16" name="Shape 14"/>
          <p:cNvSpPr/>
          <p:nvPr/>
        </p:nvSpPr>
        <p:spPr>
          <a:xfrm>
            <a:off x="812800" y="2386330"/>
            <a:ext cx="10566400" cy="2656840"/>
          </a:xfrm>
          <a:custGeom>
            <a:avLst/>
            <a:gdLst/>
            <a:ahLst/>
            <a:cxnLst/>
            <a:rect l="l" t="t" r="r" b="b"/>
            <a:pathLst>
              <a:path w="10566400" h="2656840">
                <a:moveTo>
                  <a:pt x="10477500" y="0"/>
                </a:moveTo>
                <a:lnTo>
                  <a:pt x="10477500" y="0"/>
                </a:lnTo>
                <a:arcTo hR="88900" wR="88900" stAng="16200000" swAng="5400000"/>
                <a:lnTo>
                  <a:pt x="10566400" y="2567940"/>
                </a:lnTo>
                <a:arcTo hR="88900" wR="88900" stAng="0" swAng="5400000"/>
                <a:lnTo>
                  <a:pt x="88900" y="2656840"/>
                </a:lnTo>
                <a:arcTo hR="88900" wR="88900" stAng="5400000" swAng="5400000"/>
                <a:lnTo>
                  <a:pt x="0" y="2567940"/>
                </a:lnTo>
                <a:arcTo hR="82550" wR="88900" stAng="10800000" swAng="-5400000"/>
                <a:lnTo>
                  <a:pt x="10477500" y="2650490"/>
                </a:lnTo>
                <a:arcTo hR="82550" wR="82550" stAng="5400000" swAng="-5400000"/>
                <a:lnTo>
                  <a:pt x="10560050" y="88900"/>
                </a:lnTo>
                <a:arcTo hR="88900" wR="82550" stAng="0" swAng="-5400000"/>
                <a:close/>
              </a:path>
            </a:pathLst>
          </a:custGeom>
          <a:solidFill>
            <a:srgbClr val="DDE2E8"/>
          </a:solidFill>
          <a:ln/>
        </p:spPr>
      </p:sp>
      <p:sp>
        <p:nvSpPr>
          <p:cNvPr id="17" name="Shape 15"/>
          <p:cNvSpPr/>
          <p:nvPr/>
        </p:nvSpPr>
        <p:spPr>
          <a:xfrm>
            <a:off x="812800" y="2386330"/>
            <a:ext cx="10566400" cy="2656840"/>
          </a:xfrm>
          <a:custGeom>
            <a:avLst/>
            <a:gdLst/>
            <a:ahLst/>
            <a:cxnLst/>
            <a:rect l="l" t="t" r="r" b="b"/>
            <a:pathLst>
              <a:path w="10566400" h="2656840">
                <a:moveTo>
                  <a:pt x="88900" y="2656840"/>
                </a:moveTo>
                <a:lnTo>
                  <a:pt x="88900" y="2656840"/>
                </a:lnTo>
                <a:arcTo hR="88900" wR="88900" stAng="5400000" swAng="5400000"/>
                <a:lnTo>
                  <a:pt x="0" y="88900"/>
                </a:lnTo>
                <a:arcTo hR="88900" wR="88900" stAng="10800000" swAng="5400000"/>
                <a:lnTo>
                  <a:pt x="10477500" y="0"/>
                </a:lnTo>
                <a:arcTo hR="88900" wR="88900" stAng="16200000" swAng="5400000"/>
                <a:lnTo>
                  <a:pt x="10566400" y="88900"/>
                </a:lnTo>
                <a:arcTo hR="78740" wR="88900" stAng="0" swAng="-5400000"/>
                <a:lnTo>
                  <a:pt x="88900" y="10160"/>
                </a:lnTo>
                <a:arcTo hR="78740" wR="78740" stAng="16200000" swAng="-5400000"/>
                <a:lnTo>
                  <a:pt x="10160" y="2567940"/>
                </a:lnTo>
                <a:arcTo hR="88900" wR="78740" stAng="10800000" swAng="-5400000"/>
                <a:close/>
              </a:path>
            </a:pathLst>
          </a:custGeom>
          <a:solidFill>
            <a:srgbClr val="141413">
              <a:alpha val="22000"/>
            </a:srgbClr>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396490"/>
          <a:ext cx="10551160" cy="2641600"/>
        </p:xfrm>
        <a:graphic>
          <a:graphicData uri="http://schemas.openxmlformats.org/drawingml/2006/table">
            <a:tbl>
              <a:tblPr/>
              <a:tblGrid>
                <a:gridCol w="2110232"/>
                <a:gridCol w="4220464"/>
                <a:gridCol w="4220464"/>
              </a:tblGrid>
              <a:tr h="33020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Factor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9BDC3"/>
                      </a:solidFill>
                      <a:prstDash val="solid"/>
                      <a:round/>
                      <a:headEnd type="none" w="med" len="med"/>
                      <a:tailEnd type="none" w="med" len="med"/>
                    </a:lnR>
                    <a:lnT w="0" cap="flat" cmpd="sng" algn="ctr">
                      <a:noFill/>
                    </a:lnT>
                    <a:lnB w="12700" cap="flat" cmpd="sng" algn="ctr">
                      <a:solidFill>
                        <a:srgbClr val="B9BDC3"/>
                      </a:solidFill>
                      <a:prstDash val="solid"/>
                      <a:round/>
                      <a:headEnd type="none" w="med" len="med"/>
                      <a:tailEnd type="none" w="med" len="med"/>
                    </a:lnB>
                    <a:solidFill>
                      <a:srgbClr val="E7EDF5"/>
                    </a:solidFill>
                  </a:tcPr>
                </a:tc>
                <a:tc>
                  <a:txBody>
                    <a:bodyPr/>
                    <a:lstStyle/>
                    <a:p>
                      <a:pPr indent="0" marL="0">
                        <a:lnSpc>
                          <a:spcPts val="1680"/>
                        </a:lnSpc>
                        <a:buNone/>
                      </a:pPr>
                      <a:r>
                        <a:rPr lang="en-US" sz="1200" b="1" dirty="0">
                          <a:solidFill>
                            <a:srgbClr val="1D4F91"/>
                          </a:solidFill>
                          <a:latin typeface="IBM Plex Sans" pitchFamily="34" charset="0"/>
                          <a:ea typeface="IBM Plex Sans" pitchFamily="34" charset="-122"/>
                          <a:cs typeface="IBM Plex Sans" pitchFamily="34" charset="-120"/>
                        </a:rPr>
                        <a:t>GitHub Copilot skills (chosen)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0" cap="flat" cmpd="sng" algn="ctr">
                      <a:noFill/>
                    </a:lnT>
                    <a:lnB w="12700" cap="flat" cmpd="sng" algn="ctr">
                      <a:solidFill>
                        <a:srgbClr val="B9BDC3"/>
                      </a:solidFill>
                      <a:prstDash val="solid"/>
                      <a:round/>
                      <a:headEnd type="none" w="med" len="med"/>
                      <a:tailEnd type="none" w="med" len="med"/>
                    </a:lnB>
                    <a:solidFill>
                      <a:srgbClr val="E7EDF5"/>
                    </a:solidFill>
                  </a:tcPr>
                </a:tc>
                <a:tc>
                  <a:txBody>
                    <a:bodyPr/>
                    <a:lstStyle/>
                    <a:p>
                      <a:pPr indent="0" marL="0">
                        <a:lnSpc>
                          <a:spcPts val="1680"/>
                        </a:lnSpc>
                        <a:buNone/>
                      </a:pPr>
                      <a:r>
                        <a:rPr lang="en-US" sz="1200" b="1" dirty="0">
                          <a:solidFill>
                            <a:srgbClr val="8A4A12"/>
                          </a:solidFill>
                          <a:latin typeface="IBM Plex Sans" pitchFamily="34" charset="0"/>
                          <a:ea typeface="IBM Plex Sans" pitchFamily="34" charset="-122"/>
                          <a:cs typeface="IBM Plex Sans" pitchFamily="34" charset="-120"/>
                        </a:rPr>
                        <a:t>LangGraph 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0" cap="flat" cmpd="sng" algn="ctr">
                      <a:noFill/>
                    </a:lnT>
                    <a:lnB w="12700" cap="flat" cmpd="sng" algn="ctr">
                      <a:solidFill>
                        <a:srgbClr val="B9BDC3"/>
                      </a:solidFill>
                      <a:prstDash val="solid"/>
                      <a:round/>
                      <a:headEnd type="none" w="med" len="med"/>
                      <a:tailEnd type="none" w="med" len="med"/>
                    </a:lnB>
                    <a:solidFill>
                      <a:srgbClr val="E7EDF5"/>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Access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Copilot you already have and approved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New API keys, billing, security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Dependencies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 already in place; no restore or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Clone all repos, SDKs, feeds, restore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Tokens, one app</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~0.1–0.2M (scripts do the reading)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~5–10M if the LLM reads code + ACORD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Human review</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HTML / Excel → approvals.yaml in git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Host paused flows, storage, review UI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Many repos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.github folder or org plugin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Central service with access to all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Governance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 review, audit logs, hooks, exclusion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Build own logging, access, audit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Operations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servers; edit Markdown to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Hosting, scaling, patching, on-call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9" name="Text 16"/>
          <p:cNvSpPr/>
          <p:nvPr/>
        </p:nvSpPr>
        <p:spPr>
          <a:xfrm>
            <a:off x="812800" y="5220970"/>
            <a:ext cx="10566400" cy="614680"/>
          </a:xfrm>
          <a:prstGeom prst="roundRect">
            <a:avLst>
              <a:gd name="adj" fmla="val 8264"/>
            </a:avLst>
          </a:prstGeom>
          <a:solidFill>
            <a:srgbClr val="FBF1E6"/>
          </a:solidFill>
          <a:ln/>
        </p:spPr>
        <p:txBody>
          <a:bodyPr wrap="square" lIns="173081" tIns="86721" rIns="0" bIns="61321"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Where LangGraph wins:</a:t>
            </a:r>
            <a:r>
              <a:rPr lang="en-US" sz="1200" dirty="0">
                <a:solidFill>
                  <a:srgbClr val="3F4A59"/>
                </a:solidFill>
                <a:latin typeface="IBM Plex Sans" pitchFamily="34" charset="0"/>
                <a:ea typeface="IBM Plex Sans" pitchFamily="34" charset="-122"/>
                <a:cs typeface="IBM Plex Sans" pitchFamily="34" charset="-120"/>
              </a:rPr>
              <a:t> unattended central runs at scale, running as an API service, rules enforced in IDE chat. It can call the same scripts, so there is no lock-in.</a:t>
            </a:r>
            <a:endParaRPr lang="en-US" sz="1200" dirty="0"/>
          </a:p>
        </p:txBody>
      </p:sp>
      <p:sp>
        <p:nvSpPr>
          <p:cNvPr id="20" name="Shape 17"/>
          <p:cNvSpPr/>
          <p:nvPr/>
        </p:nvSpPr>
        <p:spPr>
          <a:xfrm>
            <a:off x="812800" y="5220970"/>
            <a:ext cx="10566400" cy="614680"/>
          </a:xfrm>
          <a:custGeom>
            <a:avLst/>
            <a:gdLst/>
            <a:ahLst/>
            <a:cxnLst/>
            <a:rect l="l" t="t" r="r" b="b"/>
            <a:pathLst>
              <a:path w="10566400" h="614680">
                <a:moveTo>
                  <a:pt x="50800" y="614680"/>
                </a:moveTo>
                <a:lnTo>
                  <a:pt x="50800" y="614680"/>
                </a:lnTo>
                <a:arcTo hR="50800" wR="50800" stAng="5400000" swAng="5400000"/>
                <a:lnTo>
                  <a:pt x="0" y="50800"/>
                </a:lnTo>
                <a:arcTo hR="50800" wR="50800" stAng="10800000" swAng="5400000"/>
                <a:lnTo>
                  <a:pt x="50800" y="0"/>
                </a:lnTo>
                <a:arcTo hR="50800" wR="12700" stAng="16200000" swAng="-5400000"/>
                <a:lnTo>
                  <a:pt x="38100" y="563880"/>
                </a:lnTo>
                <a:arcTo hR="50800" wR="12700" stAng="10800000" swAng="-5400000"/>
                <a:close/>
              </a:path>
            </a:pathLst>
          </a:custGeom>
          <a:solidFill>
            <a:srgbClr val="C2671A"/>
          </a:solidFill>
          <a:ln/>
        </p:spPr>
      </p:sp>
      <p:sp>
        <p:nvSpPr>
          <p:cNvPr id="21" name="Text 18"/>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IBM Plex Sans" pitchFamily="34" charset="0"/>
                <a:ea typeface="IBM Plex Sans" pitchFamily="34" charset="-122"/>
                <a:cs typeface="IBM Plex Sans" pitchFamily="34" charset="-120"/>
              </a:rPr>
              <a:t>Token figures: estimate for one application of ~100k lines of C#, based on measured kit sizes.</a:t>
            </a:r>
            <a:endParaRPr lang="en-US" sz="1200" dirty="0"/>
          </a:p>
        </p:txBody>
      </p:sp>
    </p:spTree>
  </p:cSld>
  <p:clrMapOvr>
    <a:masterClrMapping/>
  </p:clrMapOvr>
</p:sld>
</file>

<file path=ppt/theme/theme1.xml><?xml version="1.0" encoding="utf-8"?>
<a:theme xmlns:a="http://schemas.openxmlformats.org/drawingml/2006/main" name="Copilot Skills vs LangGraph">
  <a:themeElements>
    <a:clrScheme name="Copilot Skills vs LangGraph">
      <a:dk1>
        <a:srgbClr val="14213D"/>
      </a:dk1>
      <a:lt1>
        <a:srgbClr val="F6F7F4"/>
      </a:lt1>
      <a:dk2>
        <a:srgbClr val="4D576B"/>
      </a:dk2>
      <a:lt2>
        <a:srgbClr val="DFE2E2"/>
      </a:lt2>
      <a:accent1>
        <a:srgbClr val="1D4F91"/>
      </a:accent1>
      <a:accent2>
        <a:srgbClr val="3F4A59"/>
      </a:accent2>
      <a:accent3>
        <a:srgbClr val="C9D6E8"/>
      </a:accent3>
      <a:accent4>
        <a:srgbClr val="5B6676"/>
      </a:accent4>
      <a:accent5>
        <a:srgbClr val="9AA0A6"/>
      </a:accent5>
      <a:accent6>
        <a:srgbClr val="6E7786"/>
      </a:accent6>
      <a:hlink>
        <a:srgbClr val="0563C1"/>
      </a:hlink>
      <a:folHlink>
        <a:srgbClr val="954F72"/>
      </a:folHlink>
    </a:clrScheme>
    <a:fontScheme name="Copilot Skills vs LangGrap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Skills vs LangGraph</dc:title>
  <dc:subject/>
  <dc:creator/>
  <cp:lastModifiedBy/>
  <cp:revision>1</cp:revision>
  <dcterms:created xsi:type="dcterms:W3CDTF">2026-10-08T18:38:06Z</dcterms:created>
  <dcterms:modified xsi:type="dcterms:W3CDTF">2026-10-08T18:38:06Z</dcterms:modified>
</cp:coreProperties>
</file>